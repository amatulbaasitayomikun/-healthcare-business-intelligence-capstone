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87243" autoAdjust="0"/>
  </p:normalViewPr>
  <p:slideViewPr>
    <p:cSldViewPr snapToGrid="0" snapToObjects="1">
      <p:cViewPr>
        <p:scale>
          <a:sx n="57" d="100"/>
          <a:sy n="57" d="100"/>
        </p:scale>
        <p:origin x="99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5843E922-128B-46AD-8E23-F05C0B33FD2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917703" cy="667795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23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743200"/>
            <a:ext cx="3657600" cy="3657600"/>
          </a:xfrm>
          <a:prstGeom prst="ellipse">
            <a:avLst/>
          </a:prstGeom>
          <a:solidFill>
            <a:srgbClr val="0E7C86">
              <a:alpha val="15000"/>
            </a:srgbClr>
          </a:solidFill>
          <a:ln w="12700">
            <a:solidFill>
              <a:srgbClr val="0E7C8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CAPSTONE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Operational &amp;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Analysis: January 2023 – December 2024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02920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AmatulBaasit Ayomikun Ghazal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794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COHORT 9.0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3794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15" y="5129303"/>
            <a:ext cx="121615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120640"/>
            <a:ext cx="1216152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949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prompted this investigation?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394960" cy="1115568"/>
          </a:xfrm>
          <a:prstGeom prst="rect">
            <a:avLst/>
          </a:prstGeom>
          <a:solidFill>
            <a:srgbClr val="E8F0FA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44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614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schema &amp; methodology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3949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7764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702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0873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Findings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8056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Volume, ALOS trends, department workload &amp; Top Procedures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5394960" cy="1115568"/>
          </a:xfrm>
          <a:prstGeom prst="rect">
            <a:avLst/>
          </a:prstGeom>
          <a:solidFill>
            <a:srgbClr val="E8F0FA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530352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596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41324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Findings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8064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diagnoses, prolonged LOS &amp; readmissions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325880"/>
            <a:ext cx="53949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32588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6184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14356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Findings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182880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payment mix &amp; dept performance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651760"/>
            <a:ext cx="5394960" cy="1115568"/>
          </a:xfrm>
          <a:prstGeom prst="rect">
            <a:avLst/>
          </a:prstGeom>
          <a:solidFill>
            <a:srgbClr val="E8F0FA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65176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44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27614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31546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really telling 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977640"/>
            <a:ext cx="53949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97764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2702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40873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448056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actions for leadership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5303520"/>
            <a:ext cx="5394960" cy="1115568"/>
          </a:xfrm>
          <a:prstGeom prst="rect">
            <a:avLst/>
          </a:prstGeom>
          <a:solidFill>
            <a:srgbClr val="E8F0FA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5303520"/>
            <a:ext cx="548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5596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49440" y="541324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58064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274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685800"/>
          </a:xfrm>
          <a:prstGeom prst="rect">
            <a:avLst/>
          </a:prstGeom>
          <a:solidFill>
            <a:srgbClr val="E8F0FA"/>
          </a:solidFill>
          <a:ln w="12700">
            <a:solidFill>
              <a:srgbClr val="BFD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618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tertiary hospital is under operational stress. Leadership commissioned a data-driven investigation to identify root causes and provide actionable solutions.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566160" cy="1737360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5661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Inpatient Stays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occupying beds longer than clinically expected, delaying incoming admissions and reducing throughput capacity.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2057400"/>
            <a:ext cx="356616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2057400"/>
            <a:ext cx="35661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67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Pressure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capacity to accommodate new admissions due to slow patient turnover across departments.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2057400"/>
            <a:ext cx="3566160" cy="1737360"/>
          </a:xfrm>
          <a:prstGeom prst="rect">
            <a:avLst/>
          </a:prstGeom>
          <a:solidFill>
            <a:srgbClr val="E8F0FA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057400"/>
            <a:ext cx="356616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167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Patient Turnover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processes misaligned with optimal clinical and operational timelines.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" y="4160520"/>
            <a:ext cx="5303520" cy="1737360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" y="4160520"/>
            <a:ext cx="5303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4270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Readmission Rates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" y="4663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returning within 30 days of discharge — signalling gaps in care transition and post-discharge support.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5060" y="4160520"/>
            <a:ext cx="530352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5060" y="4160520"/>
            <a:ext cx="5303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4270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Financial Strain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2220" y="4663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not reflecting operational burden, with consistent declining trend despite sustained patient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PostgreSQL Database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217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109728" cy="8046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007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fact_encounters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fact table — all hospital visits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792224"/>
            <a:ext cx="1463040" cy="47548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7922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936,099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6217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109728" cy="8046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3347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fact_patients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9626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 &amp; history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724912"/>
            <a:ext cx="1463040" cy="4754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24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21,866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6217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93008"/>
            <a:ext cx="109728" cy="8046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661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fact_payers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8953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payer information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657600"/>
            <a:ext cx="146304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657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6217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425696"/>
            <a:ext cx="10972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4988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fact_financial_summary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48280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 per encounter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4590288"/>
            <a:ext cx="14630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5902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936,099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358384"/>
            <a:ext cx="6217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358384"/>
            <a:ext cx="10972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4315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fact_procedures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5760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performed per encounter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5522976"/>
            <a:ext cx="146304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55229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1,048,575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14032" y="1133615"/>
            <a:ext cx="4572000" cy="4114800"/>
          </a:xfrm>
          <a:prstGeom prst="rect">
            <a:avLst/>
          </a:prstGeom>
          <a:solidFill>
            <a:srgbClr val="E8F0FA"/>
          </a:solidFill>
          <a:ln w="12700">
            <a:solidFill>
              <a:srgbClr val="BF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15200" y="12801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Scope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0" y="1783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Window: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15200" y="20391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24 months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2023 – Dec 2024)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15200" y="2468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Filter: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0" y="27249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class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1,907 valid encounters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1520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Definition: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15200" y="34107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stop_date – start_date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(non-null discharge dates only)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15200" y="3840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Definition: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15200" y="40965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inpatient return within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of prior discharge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4526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15200" y="47823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</a:t>
            </a:r>
            <a:r>
              <a:rPr lang="en-US" sz="10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Tableau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Volume, ALOS, Department Workload &amp; Top Procedures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F1C135-34EB-400F-8B4B-2FC087613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960"/>
            <a:ext cx="12192000" cy="5838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diagnoses are driving inpatient activity?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12CC1AE-71E7-407D-9A63-2563FB402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2" y="1120045"/>
            <a:ext cx="12192000" cy="57031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FINDINGS — 30-DAY READMISSIONS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patients are returning within 30 days of discharge?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801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6.87%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31089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of 1,907 discharges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1430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by Diagnosis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3697642990"/>
              </p:ext>
            </p:extLst>
          </p:nvPr>
        </p:nvGraphicFramePr>
        <p:xfrm>
          <a:off x="4480560" y="1508760"/>
          <a:ext cx="72237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4892040"/>
            <a:ext cx="11247120" cy="868680"/>
          </a:xfrm>
          <a:prstGeom prst="rect">
            <a:avLst/>
          </a:prstGeom>
          <a:solidFill>
            <a:srgbClr val="E8F0FA"/>
          </a:solidFill>
          <a:ln w="12700">
            <a:solidFill>
              <a:srgbClr val="BFD4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010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Definition: 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606040" y="501091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inpatient encounter beginning within 30 days of a prior inpatient discharge for the same patient. Encounters with missing discharge dates were excluded per KPI rules.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5897880"/>
            <a:ext cx="11247120" cy="804672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5897880"/>
            <a:ext cx="112471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9893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(NSCLC) has a 24.76% readmission rate across 420 encounters, the highest absolute readmission burden.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Payment Mix &amp; Department Financial Performance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A2F807-7B7D-4C44-B551-EC7019A2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6" y="1092922"/>
            <a:ext cx="12141464" cy="57650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0" y="0"/>
            <a:ext cx="12161520" cy="6263640"/>
            <a:chOff x="0" y="0"/>
            <a:chExt cx="19152" cy="9864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9152" cy="1584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1584"/>
              <a:ext cx="19152" cy="72"/>
            </a:xfrm>
            <a:prstGeom prst="rect">
              <a:avLst/>
            </a:prstGeom>
            <a:solidFill>
              <a:srgbClr val="0E7C86"/>
            </a:solidFill>
            <a:ln w="12700">
              <a:solidFill>
                <a:srgbClr val="0E7C86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720" y="432"/>
              <a:ext cx="14400" cy="7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kern="0" spc="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BUSINESS INSIGHTS</a:t>
              </a:r>
              <a:endParaRPr lang="en-US" sz="2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20" y="936"/>
              <a:ext cx="17280" cy="50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8BDF8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What the data is really telling hospital leadership</a:t>
              </a:r>
              <a:endParaRPr lang="en-US" sz="11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48" y="1872"/>
              <a:ext cx="8928" cy="252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0392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8" y="1872"/>
              <a:ext cx="1008" cy="2520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48" y="2772"/>
              <a:ext cx="1008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01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800" y="2045"/>
              <a:ext cx="7560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0392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Internal Medicine Is the Operational Epicentre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800" y="2664"/>
              <a:ext cx="7560" cy="158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/>
                <a:t>The hospital's inpatient operations are overly dependent on Internal Medicine, which manages 85.5% of admissions while also exceeding the hospital’s ALOS benchmark.</a:t>
              </a:r>
            </a:p>
          </p:txBody>
        </p:sp>
        <p:sp>
          <p:nvSpPr>
            <p:cNvPr id="11" name="Shape 9"/>
            <p:cNvSpPr/>
            <p:nvPr/>
          </p:nvSpPr>
          <p:spPr>
            <a:xfrm>
              <a:off x="648" y="4608"/>
              <a:ext cx="8928" cy="252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D9770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648" y="4608"/>
              <a:ext cx="1008" cy="252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48" y="5508"/>
              <a:ext cx="1008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02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800" y="4781"/>
              <a:ext cx="7560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Throughput Inefficiency Is a Bigger Problem Than Demand</a:t>
              </a:r>
            </a:p>
          </p:txBody>
        </p:sp>
        <p:sp>
          <p:nvSpPr>
            <p:cNvPr id="15" name="Text 13"/>
            <p:cNvSpPr/>
            <p:nvPr/>
          </p:nvSpPr>
          <p:spPr>
            <a:xfrm>
              <a:off x="1800" y="5400"/>
              <a:ext cx="7560" cy="158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/>
                <a:t>The hospital is not experiencing significant growth in patient volume, yet bed pressure remains high because patients are staying longer than necessary.</a:t>
              </a:r>
            </a:p>
          </p:txBody>
        </p:sp>
        <p:sp>
          <p:nvSpPr>
            <p:cNvPr id="16" name="Shape 14"/>
            <p:cNvSpPr/>
            <p:nvPr/>
          </p:nvSpPr>
          <p:spPr>
            <a:xfrm>
              <a:off x="648" y="7344"/>
              <a:ext cx="8928" cy="252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1A56A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648" y="7344"/>
              <a:ext cx="1008" cy="2520"/>
            </a:xfrm>
            <a:prstGeom prst="rect">
              <a:avLst/>
            </a:prstGeom>
            <a:solidFill>
              <a:srgbClr val="1A56A0"/>
            </a:solidFill>
            <a:ln w="12700">
              <a:solidFill>
                <a:srgbClr val="1A56A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48" y="8244"/>
              <a:ext cx="1008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03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800" y="7517"/>
              <a:ext cx="7560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70C0"/>
                  </a:solidFill>
                </a:rPr>
                <a:t> </a:t>
              </a:r>
              <a:r>
                <a:rPr lang="en-US" sz="1400" b="1" dirty="0">
                  <a:solidFill>
                    <a:srgbClr val="0070C0"/>
                  </a:solidFill>
                </a:rPr>
                <a:t>A Single Diagnosis Is Driving Most Readmissions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1800" y="8136"/>
              <a:ext cx="7560" cy="158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/>
                <a:t>Non-Small Cell Lung Carcinoma accounts for nearly 80% of all hospital readmissions despite representing only 22% of admissions.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9864" y="1872"/>
              <a:ext cx="8928" cy="374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0392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9864" y="1872"/>
              <a:ext cx="1008" cy="3744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9864" y="3384"/>
              <a:ext cx="1008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04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1016" y="2045"/>
              <a:ext cx="7560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00000"/>
                  </a:solidFill>
                </a:rPr>
                <a:t>Financial Performance Is Moving in the Opposite Direction of Operational Effort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11016" y="2664"/>
              <a:ext cx="7560" cy="280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/>
                <a:t>While the hospital continues to manage a substantial inpatient workload, inpatient charges declined by 62% over the study period.</a:t>
              </a:r>
            </a:p>
          </p:txBody>
        </p:sp>
        <p:sp>
          <p:nvSpPr>
            <p:cNvPr id="26" name="Shape 24"/>
            <p:cNvSpPr/>
            <p:nvPr/>
          </p:nvSpPr>
          <p:spPr>
            <a:xfrm>
              <a:off x="9864" y="5832"/>
              <a:ext cx="8928" cy="374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0E7C8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9864" y="5832"/>
              <a:ext cx="1008" cy="3744"/>
            </a:xfrm>
            <a:prstGeom prst="rect">
              <a:avLst/>
            </a:prstGeom>
            <a:solidFill>
              <a:srgbClr val="0E7C86"/>
            </a:solidFill>
            <a:ln w="12700">
              <a:solidFill>
                <a:srgbClr val="0E7C86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9864" y="7344"/>
              <a:ext cx="1008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05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1016" y="6005"/>
              <a:ext cx="7560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8080"/>
                  </a:solidFill>
                </a:rPr>
                <a:t>The Organization Faces System-Wide Concentration Risk</a:t>
              </a:r>
            </a:p>
          </p:txBody>
        </p:sp>
        <p:sp>
          <p:nvSpPr>
            <p:cNvPr id="30" name="Text 28"/>
            <p:cNvSpPr/>
            <p:nvPr/>
          </p:nvSpPr>
          <p:spPr>
            <a:xfrm>
              <a:off x="11016" y="6624"/>
              <a:ext cx="7560" cy="280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1200" dirty="0"/>
                <a:t>Hospital activity is concentrated around:</a:t>
              </a:r>
            </a:p>
            <a:p>
              <a:endParaRPr lang="en-US" sz="12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200" dirty="0"/>
                <a:t> One department (Internal Medicine) </a:t>
              </a:r>
            </a:p>
            <a:p>
              <a:endParaRPr lang="en-US" sz="12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200" dirty="0"/>
                <a:t> Two diagnoses (Drug Abuse and Lung Carcinoma)</a:t>
              </a:r>
            </a:p>
            <a:p>
              <a:r>
                <a:rPr lang="en-US" sz="1200" dirty="0"/>
                <a:t>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200" dirty="0"/>
                <a:t> One revenue source (Insurance)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Prioritised Actions for Hospital Leadership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03483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7548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1790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2435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78408" y="1261873"/>
            <a:ext cx="3977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br>
              <a:rPr lang="en-US" sz="1100" dirty="0">
                <a:effectLst/>
              </a:rPr>
            </a:br>
            <a:endParaRPr lang="en-US" sz="1100" dirty="0">
              <a:effectLst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</a:rPr>
              <a:t>Establish Internal Medicine Capacity Review Committee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167335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78408" y="1947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60320"/>
            <a:ext cx="47548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0779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633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78408" y="2926080"/>
            <a:ext cx="4585110" cy="455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ffectLst/>
              </a:rPr>
              <a:t>Implement Structured Discharge Planning Protocols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8408" y="306324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78408" y="333756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950208"/>
            <a:ext cx="47548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976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78408" y="4285451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ffectLst/>
              </a:rPr>
              <a:t>Review Oncology Procedure Scheduling (Inpatient vs. Day-Case)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" y="445312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78408" y="47274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5340096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5340096"/>
            <a:ext cx="47548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5687568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8408" y="5431536"/>
            <a:ext cx="4706296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effectLst/>
              </a:rPr>
              <a:t>Implement Lung Carcinoma Post-</a:t>
            </a:r>
            <a:r>
              <a:rPr lang="fr-FR" sz="1600" dirty="0" err="1">
                <a:solidFill>
                  <a:srgbClr val="000000"/>
                </a:solidFill>
                <a:effectLst/>
              </a:rPr>
              <a:t>Discharge</a:t>
            </a:r>
            <a:r>
              <a:rPr lang="fr-FR" sz="1600" dirty="0">
                <a:solidFill>
                  <a:srgbClr val="000000"/>
                </a:solidFill>
                <a:effectLst/>
              </a:rPr>
              <a:t> Surveillance Programme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8408" y="5843016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78408" y="611733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1170432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1170432"/>
            <a:ext cx="475488" cy="12344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51790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30568" y="1536191"/>
            <a:ext cx="4892040" cy="521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ffectLst/>
              </a:rPr>
              <a:t>Develop a Substance Abuse to Community Care Transition Pathway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63640" y="2560320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560320"/>
            <a:ext cx="475488" cy="12344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90779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30567" y="2926080"/>
            <a:ext cx="4516805" cy="632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ffectLst/>
              </a:rPr>
              <a:t>Establish Cardiac Readmission Prevention Protocols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35640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3950208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3950208"/>
            <a:ext cx="47548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42976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30567" y="4297680"/>
            <a:ext cx="4715109" cy="637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ffectLst/>
              </a:rPr>
              <a:t>Investigate the Root Cause of Declining Inpatient Charges</a:t>
            </a:r>
            <a:endParaRPr lang="en-US" sz="1600" dirty="0"/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F62A41A4-B2F4-4D21-BC3E-38D105A48F02}"/>
              </a:ext>
            </a:extLst>
          </p:cNvPr>
          <p:cNvSpPr/>
          <p:nvPr/>
        </p:nvSpPr>
        <p:spPr>
          <a:xfrm>
            <a:off x="6263640" y="5333192"/>
            <a:ext cx="55778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Shape 53">
            <a:extLst>
              <a:ext uri="{FF2B5EF4-FFF2-40B4-BE49-F238E27FC236}">
                <a16:creationId xmlns:a16="http://schemas.microsoft.com/office/drawing/2014/main" id="{2CD75EF1-1F9E-4925-970F-0F9CBF41672A}"/>
              </a:ext>
            </a:extLst>
          </p:cNvPr>
          <p:cNvSpPr/>
          <p:nvPr/>
        </p:nvSpPr>
        <p:spPr>
          <a:xfrm>
            <a:off x="6263640" y="5333192"/>
            <a:ext cx="47548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54">
            <a:extLst>
              <a:ext uri="{FF2B5EF4-FFF2-40B4-BE49-F238E27FC236}">
                <a16:creationId xmlns:a16="http://schemas.microsoft.com/office/drawing/2014/main" id="{EA1BE6B9-145D-439D-9103-C35219F32EEA}"/>
              </a:ext>
            </a:extLst>
          </p:cNvPr>
          <p:cNvSpPr/>
          <p:nvPr/>
        </p:nvSpPr>
        <p:spPr>
          <a:xfrm>
            <a:off x="6263640" y="568066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76" name="Text 57">
            <a:extLst>
              <a:ext uri="{FF2B5EF4-FFF2-40B4-BE49-F238E27FC236}">
                <a16:creationId xmlns:a16="http://schemas.microsoft.com/office/drawing/2014/main" id="{35FF51C7-B04C-4DF3-B339-A53D2F499A14}"/>
              </a:ext>
            </a:extLst>
          </p:cNvPr>
          <p:cNvSpPr/>
          <p:nvPr/>
        </p:nvSpPr>
        <p:spPr>
          <a:xfrm>
            <a:off x="6830568" y="5660136"/>
            <a:ext cx="47151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ffectLst/>
              </a:rPr>
              <a:t>Reduce Insurance Dependency Through Payer Diversification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247120" cy="4800600"/>
          </a:xfrm>
          <a:prstGeom prst="rect">
            <a:avLst/>
          </a:prstGeom>
          <a:solidFill>
            <a:srgbClr val="E8F0FA"/>
          </a:solidFill>
          <a:ln w="12700">
            <a:solidFill>
              <a:srgbClr val="BFD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1" y="1234439"/>
            <a:ext cx="11034310" cy="4617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investigation has surfaced a hospital system operating under concentrated, manageable, and addressable pressure. The findings do not indicate a systemic collapse but rather a set of identifiable bottlenecks that, if left unaddressed, will compound into more serious operational and financial challenges. </a:t>
            </a:r>
            <a:br>
              <a:rPr lang="en-US" sz="1800" dirty="0">
                <a:solidFill>
                  <a:srgbClr val="555555"/>
                </a:solidFill>
                <a:effectLst/>
                <a:latin typeface="Times New Roman" panose="02020603050405020304" pitchFamily="18" charset="0"/>
              </a:rPr>
            </a:br>
            <a:endParaRPr lang="en-US" sz="1800" dirty="0">
              <a:solidFill>
                <a:srgbClr val="555555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Three themes emerge consistently across the operational, clinical, and financial analyses: </a:t>
            </a:r>
          </a:p>
          <a:p>
            <a:endParaRPr lang="en-US" sz="1800" dirty="0">
              <a:solidFill>
                <a:srgbClr val="555555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 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Concentration risk: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 single department (Internal Medicine), two diagnoses (Lung Carcinoma and Drug Abuse), and one payer type (insurance) account for the disproportionate share of hospital activity and revenue. This concentration creates vulnerability. </a:t>
            </a:r>
            <a:endParaRPr lang="en-US" sz="1200" dirty="0">
              <a:effectLst/>
            </a:endParaRPr>
          </a:p>
          <a:p>
            <a:endParaRPr lang="en-US" sz="1800" dirty="0">
              <a:solidFill>
                <a:srgbClr val="555555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   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Throughput inefficiency: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Elevated ALOS and high readmission rates in specific diagnoses suggest that patients are not transitioning efficiently through the care pathway, from admission, through treatment, to discharge and community support. </a:t>
            </a:r>
            <a:endParaRPr lang="en-US" sz="1200" dirty="0">
              <a:effectLst/>
            </a:endParaRPr>
          </a:p>
          <a:p>
            <a:endParaRPr lang="en-US" sz="1800" dirty="0">
              <a:solidFill>
                <a:srgbClr val="555555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  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Financial sustainability concern: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The 62% decline in monthly inpatient charges over the analysis period, occurring alongside stable operational burdens, is not consistent with a financially healthy trajectory and requires urgent executive attention. 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right interventions, this hospital can reduce ALOS and stabilise its financial performance. The data provides clear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E7C86">
              <a:alpha val="15000"/>
            </a:srgbClr>
          </a:solidFill>
          <a:ln w="12700">
            <a:solidFill>
              <a:srgbClr val="0E7C8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886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03920" y="3886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924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AmatulBaasit Ghazal</cp:lastModifiedBy>
  <cp:revision>16</cp:revision>
  <dcterms:created xsi:type="dcterms:W3CDTF">2026-05-28T20:25:13Z</dcterms:created>
  <dcterms:modified xsi:type="dcterms:W3CDTF">2026-06-13T16:51:25Z</dcterms:modified>
</cp:coreProperties>
</file>